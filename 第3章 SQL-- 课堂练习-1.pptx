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3"/>
  </p:notesMasterIdLst>
  <p:sldIdLst>
    <p:sldId id="1149" r:id="rId5"/>
    <p:sldId id="1264" r:id="rId6"/>
    <p:sldId id="1760" r:id="rId7"/>
    <p:sldId id="1761" r:id="rId8"/>
    <p:sldId id="1549" r:id="rId9"/>
    <p:sldId id="1758" r:id="rId10"/>
    <p:sldId id="1759" r:id="rId11"/>
    <p:sldId id="1550" r:id="rId12"/>
    <p:sldId id="1762" r:id="rId13"/>
    <p:sldId id="1763" r:id="rId14"/>
    <p:sldId id="1764" r:id="rId15"/>
    <p:sldId id="1765" r:id="rId16"/>
    <p:sldId id="1665" r:id="rId17"/>
    <p:sldId id="1669" r:id="rId18"/>
    <p:sldId id="1666" r:id="rId19"/>
    <p:sldId id="1670" r:id="rId20"/>
    <p:sldId id="1466" r:id="rId21"/>
    <p:sldId id="1757" r:id="rId22"/>
  </p:sldIdLst>
  <p:sldSz cx="12192000" cy="6858000"/>
  <p:notesSz cx="6834188" cy="9979025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冯 盛世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75383" autoAdjust="0"/>
  </p:normalViewPr>
  <p:slideViewPr>
    <p:cSldViewPr snapToObjects="1" showGuides="1">
      <p:cViewPr varScale="1">
        <p:scale>
          <a:sx n="50" d="100"/>
          <a:sy n="50" d="100"/>
        </p:scale>
        <p:origin x="1389" y="27"/>
      </p:cViewPr>
      <p:guideLst>
        <p:guide orient="horz" pos="2166"/>
        <p:guide pos="3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D74650C5-ABCB-9449-B7C4-7FC74A0CA88B}" type="datetimeFigureOut">
              <a:rPr lang="zh-CN" altLang="en-US"/>
              <a:t>2026/9/19</a:t>
            </a:fld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EF1CA65C-4106-954D-B1BB-0DB537C37847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1CA65C-4106-954D-B1BB-0DB537C37847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5987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1CA65C-4106-954D-B1BB-0DB537C37847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32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Select *</a:t>
            </a:r>
          </a:p>
          <a:p>
            <a:r>
              <a:rPr lang="en-US" altLang="zh-CN" dirty="0"/>
              <a:t>From od</a:t>
            </a:r>
          </a:p>
          <a:p>
            <a:r>
              <a:rPr lang="en-US" altLang="zh-CN" dirty="0"/>
              <a:t>Where price*(1-discount) &gt; 100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1CA65C-4106-954D-B1BB-0DB537C37847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830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没有考虑复姓、少数民族、外籍人士等情况；没有考虑姓名前面有空格的情况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410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615614" y="2232898"/>
            <a:ext cx="1096076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4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4511824" y="5733256"/>
            <a:ext cx="376750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54269" y="4293096"/>
            <a:ext cx="95703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 关系数据库标准语言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7170" y="1052195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87170" y="1772285"/>
          <a:ext cx="5890895" cy="628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87170" y="2494915"/>
          <a:ext cx="7776845" cy="54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22605" y="3429000"/>
            <a:ext cx="1105979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查询</a:t>
            </a:r>
            <a:r>
              <a:rPr lang="en-US" altLang="zh-CN">
                <a:sym typeface="+mn-ea"/>
              </a:rPr>
              <a:t>2000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日之后出生的男生。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查询课程名称中包含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数据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的课程信息。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查询</a:t>
            </a:r>
            <a:r>
              <a:rPr lang="en-US" altLang="zh-CN">
                <a:sym typeface="+mn-ea"/>
              </a:rPr>
              <a:t>2021</a:t>
            </a:r>
            <a:r>
              <a:rPr lang="zh-CN" altLang="en-US">
                <a:sym typeface="+mn-ea"/>
              </a:rPr>
              <a:t>年秋季（即</a:t>
            </a:r>
            <a:r>
              <a:rPr lang="en-US" altLang="zh-CN">
                <a:sym typeface="+mn-ea"/>
              </a:rPr>
              <a:t> 20212</a:t>
            </a:r>
            <a:r>
              <a:rPr lang="zh-CN" altLang="en-US">
                <a:sym typeface="+mn-ea"/>
              </a:rPr>
              <a:t>）课程号为</a:t>
            </a:r>
            <a:r>
              <a:rPr lang="en-US" altLang="zh-CN">
                <a:sym typeface="+mn-ea"/>
              </a:rPr>
              <a:t>’81001’</a:t>
            </a:r>
            <a:r>
              <a:rPr lang="zh-CN" altLang="en-US">
                <a:sym typeface="+mn-ea"/>
              </a:rPr>
              <a:t>的所有学生的成绩，降序显示前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个。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课堂练习</a:t>
            </a:r>
          </a:p>
        </p:txBody>
      </p:sp>
    </p:spTree>
    <p:extLst>
      <p:ext uri="{BB962C8B-B14F-4D97-AF65-F5344CB8AC3E}">
        <p14:creationId xmlns:p14="http://schemas.microsoft.com/office/powerpoint/2010/main" val="260235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1772920"/>
          <a:ext cx="8049895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入学日期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RegistryDate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20180306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20180307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600" b="1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2018-9-1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56270" y="1988820"/>
            <a:ext cx="37350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Student</a:t>
            </a:r>
          </a:p>
          <a:p>
            <a:r>
              <a:rPr lang="en-US" altLang="zh-CN"/>
              <a:t>WHERE  </a:t>
            </a:r>
            <a:r>
              <a:rPr lang="en-US" altLang="zh-CN" sz="1800">
                <a:sym typeface="+mn-ea"/>
              </a:rPr>
              <a:t>(extract(year from RegistryDate) - extract(year from Sbirthdate))&lt;18</a:t>
            </a:r>
          </a:p>
          <a:p>
            <a:r>
              <a:rPr lang="en-US" altLang="zh-CN"/>
              <a:t>FROM Student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在下面的表格上执行下方右侧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语句将输出什么结果？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9C12C66-209F-4CCA-A2F1-BD467CD68A35}"/>
              </a:ext>
            </a:extLst>
          </p:cNvPr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/>
              <a:t>课堂练习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5360" y="1778218"/>
            <a:ext cx="110089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/>
              <a:t>SELECT *</a:t>
            </a:r>
          </a:p>
          <a:p>
            <a:r>
              <a:rPr lang="en-US" altLang="zh-CN" sz="2400" dirty="0"/>
              <a:t>FROM Student</a:t>
            </a:r>
          </a:p>
          <a:p>
            <a:r>
              <a:rPr lang="en-US" altLang="zh-CN" sz="2400" dirty="0"/>
              <a:t>WHERE  </a:t>
            </a:r>
            <a:r>
              <a:rPr lang="en-US" altLang="zh-CN" sz="2400" dirty="0">
                <a:sym typeface="+mn-ea"/>
              </a:rPr>
              <a:t>(extract(year from </a:t>
            </a:r>
            <a:r>
              <a:rPr lang="en-US" altLang="zh-CN" sz="2400" dirty="0" err="1">
                <a:sym typeface="+mn-ea"/>
              </a:rPr>
              <a:t>RegistryDate</a:t>
            </a:r>
            <a:r>
              <a:rPr lang="en-US" altLang="zh-CN" sz="2400" dirty="0">
                <a:sym typeface="+mn-ea"/>
              </a:rPr>
              <a:t>) - extract(year from </a:t>
            </a:r>
            <a:r>
              <a:rPr lang="en-US" altLang="zh-CN" sz="2400" dirty="0" err="1">
                <a:sym typeface="+mn-ea"/>
              </a:rPr>
              <a:t>Sbirthdate</a:t>
            </a:r>
            <a:r>
              <a:rPr lang="en-US" altLang="zh-CN" sz="2400" dirty="0">
                <a:sym typeface="+mn-ea"/>
              </a:rPr>
              <a:t>))&gt;=18</a:t>
            </a:r>
          </a:p>
          <a:p>
            <a:r>
              <a:rPr lang="en-US" altLang="zh-CN" sz="2400" dirty="0"/>
              <a:t>FROM Student</a:t>
            </a:r>
            <a:r>
              <a:rPr lang="zh-CN" altLang="en-US" sz="2400" dirty="0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如果希望找出</a:t>
            </a:r>
            <a:r>
              <a:rPr lang="en-US" altLang="zh-CN" sz="2800" dirty="0">
                <a:sym typeface="+mn-ea"/>
              </a:rPr>
              <a:t>“</a:t>
            </a:r>
            <a:r>
              <a:rPr lang="zh-CN" altLang="en-US" sz="2800" dirty="0">
                <a:sym typeface="+mn-ea"/>
              </a:rPr>
              <a:t>入学时已满</a:t>
            </a:r>
            <a:r>
              <a:rPr lang="en-US" altLang="zh-CN" sz="2800" dirty="0">
                <a:sym typeface="+mn-ea"/>
              </a:rPr>
              <a:t>18</a:t>
            </a:r>
            <a:r>
              <a:rPr lang="zh-CN" altLang="en-US" sz="2800" dirty="0">
                <a:sym typeface="+mn-ea"/>
              </a:rPr>
              <a:t>周岁的学生</a:t>
            </a:r>
            <a:r>
              <a:rPr lang="en-US" altLang="zh-CN" sz="2800" dirty="0">
                <a:sym typeface="+mn-ea"/>
              </a:rPr>
              <a:t>”</a:t>
            </a:r>
            <a:r>
              <a:rPr lang="zh-CN" altLang="en-US" sz="2800" dirty="0">
                <a:sym typeface="+mn-ea"/>
              </a:rPr>
              <a:t>，下面的语句正确吗？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9380" y="3963779"/>
            <a:ext cx="980630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ym typeface="+mn-ea"/>
              </a:rPr>
              <a:t>如果不对，应该怎样修改？</a:t>
            </a:r>
          </a:p>
          <a:p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如何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设计测试数据</a:t>
            </a:r>
            <a:r>
              <a:rPr lang="zh-CN" altLang="en-US" sz="2800" dirty="0">
                <a:sym typeface="+mn-ea"/>
              </a:rPr>
              <a:t>来检验上述语句的正确性？</a:t>
            </a:r>
          </a:p>
          <a:p>
            <a:endParaRPr lang="zh-CN" altLang="en-US" sz="2800" dirty="0">
              <a:sym typeface="+mn-e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F0C625-E839-4209-939A-089FED980E07}"/>
              </a:ext>
            </a:extLst>
          </p:cNvPr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/>
              <a:t>课堂练习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D40109-9FE3-4568-9520-2AF6B4A9D184}"/>
              </a:ext>
            </a:extLst>
          </p:cNvPr>
          <p:cNvSpPr txBox="1"/>
          <p:nvPr/>
        </p:nvSpPr>
        <p:spPr>
          <a:xfrm>
            <a:off x="7536160" y="3068960"/>
            <a:ext cx="45364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设计测试数据时重点覆盖：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刚好满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 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周岁；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差一天满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 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周岁；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年份差为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，但实际未满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年份差大于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，实际已满；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年份差小于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18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，实际未满；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闰年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2 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月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29 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日出生；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出生日期或入学日期为 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NULL</a:t>
            </a:r>
            <a:r>
              <a:rPr lang="zh-CN" altLang="en-US" sz="2400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/>
              <a:t>课堂练习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/>
        </p:nvSpPr>
        <p:spPr>
          <a:xfrm>
            <a:off x="695325" y="1124585"/>
            <a:ext cx="11197590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ym typeface="+mn-ea"/>
              </a:rPr>
              <a:t>根据关系</a:t>
            </a:r>
            <a:r>
              <a:rPr lang="en-US" altLang="zh-CN" dirty="0">
                <a:sym typeface="+mn-ea"/>
              </a:rPr>
              <a:t>  od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oid,  product_id, price, amount, discount) </a:t>
            </a: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ym typeface="+mn-ea"/>
              </a:rPr>
              <a:t>查询实际成交价格高于</a:t>
            </a:r>
            <a:r>
              <a:rPr lang="en-US" altLang="zh-CN" dirty="0">
                <a:sym typeface="+mn-ea"/>
              </a:rPr>
              <a:t>100</a:t>
            </a:r>
            <a:r>
              <a:rPr lang="zh-CN" altLang="en-US" dirty="0">
                <a:sym typeface="+mn-ea"/>
              </a:rPr>
              <a:t>元的订单和商品。注意实际成交价格</a:t>
            </a:r>
            <a:r>
              <a:rPr lang="en-US" altLang="zh-CN" dirty="0">
                <a:sym typeface="+mn-ea"/>
              </a:rPr>
              <a:t>= price*(1-discount)</a:t>
            </a:r>
            <a:r>
              <a:rPr lang="zh-CN" altLang="en-US" dirty="0">
                <a:sym typeface="+mn-ea"/>
              </a:rPr>
              <a:t>，结果示例</a:t>
            </a: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lvl="1"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828800" y="4292600"/>
          <a:ext cx="853249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实际成交价格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108009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1772920"/>
          <a:ext cx="8049895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en-US" altLang="en-US" sz="1600" b="1" kern="1200" baseline="0" dirty="0" err="1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en-US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20180306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20180307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en-US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56270" y="1988820"/>
            <a:ext cx="373507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</a:t>
            </a:r>
          </a:p>
          <a:p>
            <a:r>
              <a:rPr lang="en-US" altLang="zh-CN"/>
              <a:t>    CASE </a:t>
            </a:r>
          </a:p>
          <a:p>
            <a:r>
              <a:rPr lang="en-US" altLang="zh-CN"/>
              <a:t>        WHEN ssex = '</a:t>
            </a:r>
            <a:r>
              <a:rPr lang="zh-CN" altLang="en-US"/>
              <a:t>男</a:t>
            </a:r>
            <a:r>
              <a:rPr lang="en-US" altLang="zh-CN"/>
              <a:t>' THEN 'Mr. ' </a:t>
            </a:r>
          </a:p>
          <a:p>
            <a:r>
              <a:rPr lang="en-US" altLang="zh-CN"/>
              <a:t>        ELSE 'Ms. ' </a:t>
            </a:r>
          </a:p>
          <a:p>
            <a:r>
              <a:rPr lang="en-US" altLang="zh-CN"/>
              <a:t>    END || </a:t>
            </a:r>
          </a:p>
          <a:p>
            <a:r>
              <a:rPr lang="en-US" altLang="zh-CN"/>
              <a:t>    LEFT(sname, 1) AS FormattedInfo, </a:t>
            </a:r>
          </a:p>
          <a:p>
            <a:r>
              <a:rPr lang="en-US" altLang="zh-CN"/>
              <a:t>    sno </a:t>
            </a:r>
          </a:p>
          <a:p>
            <a:r>
              <a:rPr lang="en-US" altLang="zh-CN"/>
              <a:t>FROM Student</a:t>
            </a:r>
            <a:r>
              <a:rPr lang="zh-CN" altLang="en-US"/>
              <a:t>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在下面的表格上执行下方右侧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语句将输出什么结果？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7035" y="5733415"/>
            <a:ext cx="98063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提示：可以猜测</a:t>
            </a:r>
            <a:r>
              <a:rPr lang="en-US" altLang="zh-CN" sz="2400">
                <a:sym typeface="+mn-ea"/>
              </a:rPr>
              <a:t> CASE</a:t>
            </a:r>
            <a:r>
              <a:rPr lang="zh-CN" altLang="en-US" sz="2400">
                <a:sym typeface="+mn-ea"/>
              </a:rPr>
              <a:t>的用法；另外，</a:t>
            </a:r>
            <a:r>
              <a:rPr lang="en-US" altLang="zh-CN" sz="2400">
                <a:sym typeface="+mn-ea"/>
              </a:rPr>
              <a:t> ‘||’</a:t>
            </a:r>
            <a:r>
              <a:rPr lang="zh-CN" altLang="en-US" sz="2400">
                <a:sym typeface="+mn-ea"/>
              </a:rPr>
              <a:t>表示字符串加法</a:t>
            </a:r>
            <a:r>
              <a:rPr lang="en-US" altLang="zh-CN" sz="2400">
                <a:sym typeface="+mn-ea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EF341DC-E820-4550-98B7-5593158E6BDA}"/>
              </a:ext>
            </a:extLst>
          </p:cNvPr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/>
              <a:t>课堂练习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83840" y="2205355"/>
            <a:ext cx="4347845" cy="3258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/>
              <a:t>SELECT </a:t>
            </a:r>
          </a:p>
          <a:p>
            <a:r>
              <a:rPr lang="en-US" altLang="zh-CN"/>
              <a:t>    CASE </a:t>
            </a:r>
          </a:p>
          <a:p>
            <a:r>
              <a:rPr lang="en-US" altLang="zh-CN"/>
              <a:t>        WHEN ssex = '</a:t>
            </a:r>
            <a:r>
              <a:rPr lang="zh-CN" altLang="en-US"/>
              <a:t>男</a:t>
            </a:r>
            <a:r>
              <a:rPr lang="en-US" altLang="zh-CN"/>
              <a:t>' THEN 'Mr. ' </a:t>
            </a:r>
          </a:p>
          <a:p>
            <a:r>
              <a:rPr lang="en-US" altLang="zh-CN"/>
              <a:t>        ELSE 'Ms. ' </a:t>
            </a:r>
          </a:p>
          <a:p>
            <a:r>
              <a:rPr lang="en-US" altLang="zh-CN"/>
              <a:t>    END || </a:t>
            </a:r>
          </a:p>
          <a:p>
            <a:r>
              <a:rPr lang="en-US" altLang="zh-CN"/>
              <a:t>    LEFT(sname, 1) AS FormattedInfo, </a:t>
            </a:r>
          </a:p>
          <a:p>
            <a:r>
              <a:rPr lang="en-US" altLang="zh-CN"/>
              <a:t>    sno </a:t>
            </a:r>
          </a:p>
          <a:p>
            <a:r>
              <a:rPr lang="en-US" altLang="zh-CN"/>
              <a:t>FROM Student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5280" y="1052830"/>
            <a:ext cx="942213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000" dirty="0">
                <a:sym typeface="+mn-ea"/>
              </a:rPr>
              <a:t>如果题目是要求按</a:t>
            </a:r>
            <a:r>
              <a:rPr lang="en-US" altLang="zh-CN" sz="2000" dirty="0">
                <a:sym typeface="+mn-ea"/>
              </a:rPr>
              <a:t> “Mr./Ms. </a:t>
            </a:r>
            <a:r>
              <a:rPr lang="zh-CN" altLang="en-US" sz="2000" dirty="0">
                <a:sym typeface="+mn-ea"/>
              </a:rPr>
              <a:t>姓</a:t>
            </a:r>
            <a:r>
              <a:rPr lang="en-US" altLang="zh-CN" sz="2000" dirty="0">
                <a:sym typeface="+mn-ea"/>
              </a:rPr>
              <a:t>” </a:t>
            </a:r>
            <a:r>
              <a:rPr lang="zh-CN" altLang="en-US" sz="2000" dirty="0">
                <a:sym typeface="+mn-ea"/>
              </a:rPr>
              <a:t>格式输出人民大学学生信息，下面语句有问题吗？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682D58-AE60-4302-9577-FC848CBB3558}"/>
              </a:ext>
            </a:extLst>
          </p:cNvPr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/>
              <a:t>课堂练习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课堂练习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/>
        </p:nvSpPr>
        <p:spPr>
          <a:xfrm>
            <a:off x="695325" y="1124585"/>
            <a:ext cx="11197590" cy="4997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ym typeface="+mn-ea"/>
              </a:rPr>
              <a:t>根据关系</a:t>
            </a:r>
            <a:r>
              <a:rPr lang="en-US" altLang="zh-CN" dirty="0">
                <a:sym typeface="+mn-ea"/>
              </a:rPr>
              <a:t>  </a:t>
            </a: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ym typeface="+mn-ea"/>
              </a:rPr>
              <a:t>查询姓名以</a:t>
            </a:r>
            <a:r>
              <a:rPr lang="en-US" altLang="zh-CN" dirty="0">
                <a:sym typeface="+mn-ea"/>
              </a:rPr>
              <a:t>‘se’</a:t>
            </a:r>
            <a:r>
              <a:rPr lang="zh-CN" altLang="en-US" dirty="0">
                <a:sym typeface="+mn-ea"/>
              </a:rPr>
              <a:t>结尾的学生，显示学号和姓名</a:t>
            </a: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  <a:p>
            <a:pPr lvl="1" algn="just" eaLnBrk="1" hangingPunct="1">
              <a:lnSpc>
                <a:spcPct val="130000"/>
              </a:lnSpc>
            </a:pPr>
            <a:endParaRPr lang="zh-CN" altLang="en-US" dirty="0"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72130" y="1098550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5" y="2348865"/>
            <a:ext cx="3735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Student</a:t>
            </a:r>
          </a:p>
          <a:p>
            <a:r>
              <a:rPr lang="en-US" altLang="zh-CN"/>
              <a:t>WHERE Sname LIKE ‘%e%f%’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1210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下面的这些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语句是期望得到什么结果？请尝试将你理解的需求告诉大模型，让大模型写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，并分析大模型给的答案是否正确？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19420" y="2348865"/>
            <a:ext cx="64204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Student</a:t>
            </a:r>
          </a:p>
          <a:p>
            <a:r>
              <a:rPr lang="en-US" altLang="zh-CN"/>
              <a:t>WHERE Sname LIKE ‘%e%f%’ OR Sname LIKE  ‘%f%e%’’</a:t>
            </a:r>
            <a:r>
              <a:rPr lang="zh-CN" altLang="en-US"/>
              <a:t>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5325" y="3860800"/>
            <a:ext cx="3735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Student</a:t>
            </a:r>
          </a:p>
          <a:p>
            <a:r>
              <a:rPr lang="en-US" altLang="zh-CN"/>
              <a:t>WHERE Sname LIKE ‘%e%e%’</a:t>
            </a:r>
            <a:r>
              <a:rPr lang="zh-CN" altLang="en-US"/>
              <a:t>；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47665" y="3860800"/>
            <a:ext cx="60204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Student</a:t>
            </a:r>
          </a:p>
          <a:p>
            <a:r>
              <a:rPr lang="en-US" altLang="zh-CN"/>
              <a:t>WHERE Sname LIKE ‘%e%e%’ </a:t>
            </a:r>
            <a:br>
              <a:rPr lang="en-US" altLang="zh-CN"/>
            </a:br>
            <a:r>
              <a:rPr lang="en-US" altLang="zh-CN"/>
              <a:t>      AND Sname NOT LIKE </a:t>
            </a:r>
            <a:r>
              <a:rPr lang="en-US" altLang="zh-CN">
                <a:sym typeface="+mn-ea"/>
              </a:rPr>
              <a:t>‘%e%e%e%’</a:t>
            </a:r>
            <a:r>
              <a:rPr lang="zh-CN" altLang="en-US"/>
              <a:t>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92035" y="2060575"/>
            <a:ext cx="37350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WHERE  Grade&gt;=90</a:t>
            </a:r>
          </a:p>
          <a:p>
            <a:r>
              <a:rPr lang="en-US" altLang="zh-CN"/>
              <a:t>ORDER BY Grade*Credit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在下面的表格上执行下方右侧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语句将分别输出什么结果？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1180" y="1916430"/>
          <a:ext cx="572833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Credit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75525" y="3860800"/>
            <a:ext cx="37350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*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WHERE  Grade&gt;=90</a:t>
            </a:r>
          </a:p>
          <a:p>
            <a:r>
              <a:rPr lang="en-US" altLang="zh-CN"/>
              <a:t>ORDER BY Grade, Credit</a:t>
            </a:r>
            <a:r>
              <a:rPr lang="zh-CN" altLang="en-US"/>
              <a:t>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92035" y="2060575"/>
            <a:ext cx="3735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AVG(Grade)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WHERE  Cno=’81001’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在下面的表格上执行下方右侧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语句将输出什么结果？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1180" y="1916430"/>
          <a:ext cx="572833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Credit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NULL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NULL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75525" y="3860800"/>
            <a:ext cx="3735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COUNT(*)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>
                <a:sym typeface="+mn-ea"/>
              </a:rPr>
              <a:t>WHERE  Cno=’81001’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3790" y="1916430"/>
            <a:ext cx="37350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Cno, COUNT(Grade)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WHERE  Grade&gt;=90</a:t>
            </a:r>
          </a:p>
          <a:p>
            <a:r>
              <a:rPr lang="en-US" altLang="zh-CN"/>
              <a:t>GROUP BY Cno</a:t>
            </a:r>
            <a:r>
              <a:rPr lang="zh-CN" altLang="en-US"/>
              <a:t>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990" y="980440"/>
            <a:ext cx="1190180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在下面的表格上执行下方右侧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语句将输出什么结果？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1180" y="1916430"/>
          <a:ext cx="572833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Credit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20180205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63790" y="3284855"/>
            <a:ext cx="3735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Cno, COUNT(*)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GROUP BY Sno, Cno</a:t>
            </a:r>
            <a:r>
              <a:rPr lang="zh-CN" altLang="en-US"/>
              <a:t>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36180" y="4725035"/>
            <a:ext cx="37350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SELECT Sno, COUNT(*)</a:t>
            </a:r>
          </a:p>
          <a:p>
            <a:r>
              <a:rPr lang="en-US" altLang="zh-CN"/>
              <a:t>FROM SC</a:t>
            </a:r>
          </a:p>
          <a:p>
            <a:r>
              <a:rPr lang="en-US" altLang="zh-CN"/>
              <a:t>GROUP BY Sno</a:t>
            </a:r>
          </a:p>
          <a:p>
            <a:r>
              <a:rPr lang="en-US" altLang="zh-CN"/>
              <a:t>HAVING </a:t>
            </a:r>
            <a:r>
              <a:rPr lang="en-US" altLang="zh-CN">
                <a:sym typeface="+mn-ea"/>
              </a:rPr>
              <a:t>COUNT(*)&gt;1</a:t>
            </a:r>
            <a:r>
              <a:rPr lang="zh-CN" altLang="en-US"/>
              <a:t>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讨论</a:t>
            </a:r>
            <a:r>
              <a:rPr lang="en-US" altLang="zh-CN" sz="3600"/>
              <a:t>. </a:t>
            </a:r>
            <a:r>
              <a:rPr lang="zh-CN" altLang="en-US" sz="3600"/>
              <a:t>关于</a:t>
            </a:r>
            <a:r>
              <a:rPr lang="en-US" altLang="zh-CN" sz="3600"/>
              <a:t>Group By</a:t>
            </a:r>
          </a:p>
        </p:txBody>
      </p:sp>
      <p:sp>
        <p:nvSpPr>
          <p:cNvPr id="7171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339850"/>
            <a:ext cx="10345420" cy="48545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出现</a:t>
            </a:r>
            <a:r>
              <a:rPr lang="en-US" altLang="zh-CN" dirty="0"/>
              <a:t>Group By </a:t>
            </a:r>
            <a:r>
              <a:rPr lang="zh-CN" altLang="en-US" dirty="0"/>
              <a:t>，</a:t>
            </a:r>
            <a:r>
              <a:rPr lang="en-US" altLang="zh-CN" dirty="0"/>
              <a:t>SELECT</a:t>
            </a:r>
            <a:r>
              <a:rPr lang="zh-CN" altLang="en-US" dirty="0"/>
              <a:t>字句中只能出现分组属性或聚合函数，为什么？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/>
          </a:p>
          <a:p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中，若</a:t>
            </a:r>
            <a:r>
              <a:rPr lang="en-US" altLang="zh-CN" dirty="0"/>
              <a:t>A</a:t>
            </a:r>
            <a:r>
              <a:rPr lang="zh-CN" altLang="en-US" dirty="0"/>
              <a:t>为码，</a:t>
            </a:r>
            <a:r>
              <a:rPr lang="en-US" altLang="zh-CN" dirty="0"/>
              <a:t>B</a:t>
            </a:r>
            <a:r>
              <a:rPr lang="zh-CN" altLang="en-US" dirty="0"/>
              <a:t>为非主属性，下面两个语句的</a:t>
            </a:r>
            <a:r>
              <a:rPr lang="zh-CN" altLang="en-US" dirty="0">
                <a:solidFill>
                  <a:srgbClr val="FF0000"/>
                </a:solidFill>
              </a:rPr>
              <a:t>分组效果</a:t>
            </a:r>
            <a:r>
              <a:rPr lang="zh-CN" altLang="en-US" dirty="0"/>
              <a:t>是否相同？</a:t>
            </a:r>
            <a:endParaRPr lang="en-US" altLang="zh-CN" dirty="0"/>
          </a:p>
          <a:p>
            <a:pPr lvl="1"/>
            <a:r>
              <a:rPr lang="en-US" altLang="zh-CN" dirty="0"/>
              <a:t>Group By A</a:t>
            </a:r>
          </a:p>
          <a:p>
            <a:pPr lvl="1"/>
            <a:r>
              <a:rPr lang="en-US" altLang="zh-CN" dirty="0"/>
              <a:t>Group By A, B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By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730" y="1339850"/>
            <a:ext cx="11356975" cy="4854575"/>
          </a:xfrm>
        </p:spPr>
        <p:txBody>
          <a:bodyPr/>
          <a:lstStyle/>
          <a:p>
            <a:r>
              <a:rPr lang="en-US" altLang="zh-CN" dirty="0"/>
              <a:t>Select </a:t>
            </a:r>
            <a:r>
              <a:rPr lang="zh-CN" altLang="en-US" dirty="0"/>
              <a:t>后面只能出现分组属性或聚集函数，因为查询结果只展示每个“组”的整体情况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为码，</a:t>
            </a:r>
            <a:r>
              <a:rPr lang="en-US" altLang="zh-CN" dirty="0"/>
              <a:t>Group by A</a:t>
            </a:r>
            <a:r>
              <a:rPr lang="zh-CN" altLang="en-US" dirty="0"/>
              <a:t>和</a:t>
            </a:r>
            <a:r>
              <a:rPr lang="en-US" altLang="zh-CN" dirty="0"/>
              <a:t> Group by A,B </a:t>
            </a:r>
            <a:r>
              <a:rPr lang="zh-CN" altLang="en-US" dirty="0"/>
              <a:t>效果相同</a:t>
            </a:r>
            <a:endParaRPr lang="en-US" altLang="zh-CN" dirty="0"/>
          </a:p>
          <a:p>
            <a:r>
              <a:rPr lang="zh-CN" altLang="en-US" dirty="0"/>
              <a:t>上面的规则也适用于连接之后的分组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当我们后面学到函数依赖之后，会有更一般的结论：</a:t>
            </a:r>
          </a:p>
          <a:p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中，若有</a:t>
            </a:r>
            <a:r>
              <a:rPr lang="en-US" altLang="zh-CN" dirty="0"/>
              <a:t>A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B</a:t>
            </a:r>
            <a:r>
              <a:rPr lang="zh-CN" altLang="en-US" dirty="0"/>
              <a:t>，则下面两个语句的分组效果相同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1274445" y="5443855"/>
            <a:ext cx="4572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en-US" altLang="zh-CN" sz="2000" b="1" dirty="0"/>
              <a:t>Group By A</a:t>
            </a:r>
          </a:p>
          <a:p>
            <a:pPr lvl="1"/>
            <a:r>
              <a:rPr lang="en-US" altLang="zh-CN" sz="2000" b="1" dirty="0"/>
              <a:t>Group By A,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sym typeface="+mn-ea"/>
              </a:rPr>
              <a:t>何为“分组效果相同”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339850"/>
            <a:ext cx="10575925" cy="48545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group by </a:t>
            </a:r>
            <a:r>
              <a:rPr lang="zh-CN" altLang="en-US" dirty="0"/>
              <a:t>可以认为是对原来结果集的一个划分</a:t>
            </a:r>
            <a:endParaRPr lang="en-US" altLang="zh-CN" dirty="0"/>
          </a:p>
          <a:p>
            <a:r>
              <a:rPr lang="zh-CN" altLang="en-US" dirty="0"/>
              <a:t>分组效果相同，即两种划分是等价的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、分组数量相等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、一个划分的每个集合，在另一个划分中也存在</a:t>
            </a:r>
            <a:endParaRPr lang="en-US" altLang="zh-CN" dirty="0"/>
          </a:p>
          <a:p>
            <a:r>
              <a:rPr lang="zh-CN" altLang="en-US" dirty="0"/>
              <a:t>所有</a:t>
            </a:r>
            <a:r>
              <a:rPr lang="en-US" altLang="zh-CN" dirty="0"/>
              <a:t>t1,t2,</a:t>
            </a:r>
            <a:r>
              <a:rPr lang="zh-CN" altLang="en-US" dirty="0"/>
              <a:t>若在方案一同组，则在方案二也同组。反之亦然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51180" y="47967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ym typeface="+mn-ea"/>
              </a:rPr>
              <a:t>证明略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sym typeface="+mn-ea"/>
              </a:rPr>
              <a:t>有同学问</a:t>
            </a: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339850"/>
            <a:ext cx="10575925" cy="48545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group by </a:t>
            </a:r>
            <a:r>
              <a:rPr lang="zh-CN" altLang="en-US" dirty="0"/>
              <a:t>之后，难道不是展示组的情况吗？</a:t>
            </a:r>
          </a:p>
          <a:p>
            <a:r>
              <a:rPr lang="zh-CN" altLang="en-US" dirty="0"/>
              <a:t>何为</a:t>
            </a:r>
            <a:r>
              <a:rPr lang="en-US" altLang="zh-CN" dirty="0"/>
              <a:t>“</a:t>
            </a:r>
            <a:r>
              <a:rPr lang="zh-CN" altLang="en-US" dirty="0"/>
              <a:t>展示组的情况</a:t>
            </a:r>
            <a:r>
              <a:rPr lang="en-US" altLang="zh-CN" dirty="0"/>
              <a:t>”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如果是展示其中某个组，比如男生的详细情况，需要</a:t>
            </a:r>
            <a:r>
              <a:rPr lang="en-US" altLang="zh-CN" dirty="0"/>
              <a:t>group by</a:t>
            </a:r>
            <a:r>
              <a:rPr lang="zh-CN" altLang="en-US" dirty="0"/>
              <a:t>吗？</a:t>
            </a:r>
          </a:p>
          <a:p>
            <a:pPr lvl="1"/>
            <a:r>
              <a:rPr lang="en-US" altLang="zh-CN" dirty="0"/>
              <a:t>select * from student where ssex=‘</a:t>
            </a:r>
            <a:r>
              <a:rPr lang="zh-CN" altLang="en-US" dirty="0"/>
              <a:t>男</a:t>
            </a:r>
            <a:r>
              <a:rPr lang="en-US" altLang="zh-CN" dirty="0"/>
              <a:t>’</a:t>
            </a:r>
          </a:p>
          <a:p>
            <a:r>
              <a:rPr lang="zh-CN" altLang="en-US" dirty="0"/>
              <a:t>如果是每个组的情况，那是否就是查询所有学生的情况，按</a:t>
            </a:r>
            <a:r>
              <a:rPr lang="en-US" altLang="zh-CN" dirty="0"/>
              <a:t>‘</a:t>
            </a:r>
            <a:r>
              <a:rPr lang="zh-CN" altLang="en-US" dirty="0"/>
              <a:t>组</a:t>
            </a:r>
            <a:r>
              <a:rPr lang="en-US" altLang="zh-CN" dirty="0"/>
              <a:t>’</a:t>
            </a:r>
            <a:r>
              <a:rPr lang="zh-CN" altLang="en-US" dirty="0"/>
              <a:t>排序？</a:t>
            </a:r>
            <a:endParaRPr lang="en-US" altLang="zh-CN" dirty="0"/>
          </a:p>
          <a:p>
            <a:pPr lvl="1"/>
            <a:r>
              <a:rPr lang="en-US" altLang="zh-CN" dirty="0"/>
              <a:t>select * from student order by ssex</a:t>
            </a:r>
          </a:p>
          <a:p>
            <a:pPr lvl="0"/>
            <a:r>
              <a:rPr lang="zh-CN" altLang="en-US" dirty="0"/>
              <a:t>与上述查询不同，</a:t>
            </a:r>
            <a:r>
              <a:rPr lang="en-US" altLang="zh-CN" dirty="0"/>
              <a:t>group by</a:t>
            </a:r>
            <a:r>
              <a:rPr lang="zh-CN" altLang="en-US" dirty="0"/>
              <a:t>之后，是展示每个组的</a:t>
            </a:r>
            <a:r>
              <a:rPr lang="en-US" altLang="zh-CN" dirty="0"/>
              <a:t>“</a:t>
            </a:r>
            <a:r>
              <a:rPr lang="zh-CN" altLang="en-US" dirty="0"/>
              <a:t>整体</a:t>
            </a:r>
            <a:r>
              <a:rPr lang="en-US" altLang="zh-CN" dirty="0"/>
              <a:t>”</a:t>
            </a:r>
            <a:r>
              <a:rPr lang="zh-CN" altLang="en-US" dirty="0"/>
              <a:t>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7170" y="1052195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87170" y="1772285"/>
          <a:ext cx="5890895" cy="628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87170" y="2494915"/>
          <a:ext cx="7776845" cy="54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22605" y="2998470"/>
            <a:ext cx="110597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查询每个学生在每个学期的选课数量，结果显示学号、选课学期和选课数量。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2. 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查询每个学生通过（即：成绩大于等于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60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）的课程数量，结果显示学号和课程数量。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查询学生数量大于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人的专业，结果显示专业和学生数量。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4. 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查询每个年份学生数量，结果显示年份和学生数量。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查询姓名第二个字为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二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的学生，结果显示学号和姓名。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6. </a:t>
            </a:r>
            <a:r>
              <a:rPr lang="zh-CN" altLang="en-US" dirty="0">
                <a:sym typeface="+mn-ea"/>
              </a:rPr>
              <a:t>查询课程名长度大于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个字的课程信息。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7. 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查询每个姓氏的学生人数（假设姓名第一个字为姓氏），结果显示姓氏和人数。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8. </a:t>
            </a:r>
            <a:r>
              <a:rPr lang="zh-CN" altLang="en-US" dirty="0">
                <a:sym typeface="+mn-ea"/>
              </a:rPr>
              <a:t>查询</a:t>
            </a:r>
            <a:r>
              <a:rPr lang="en-US" altLang="zh-CN" dirty="0">
                <a:sym typeface="+mn-ea"/>
              </a:rPr>
              <a:t>2000</a:t>
            </a:r>
            <a:r>
              <a:rPr lang="zh-CN" altLang="en-US" dirty="0">
                <a:sym typeface="+mn-ea"/>
              </a:rPr>
              <a:t>年之后（包括</a:t>
            </a:r>
            <a:r>
              <a:rPr lang="en-US" altLang="zh-CN" dirty="0">
                <a:sym typeface="+mn-ea"/>
              </a:rPr>
              <a:t>2000</a:t>
            </a:r>
            <a:r>
              <a:rPr lang="zh-CN" altLang="en-US" dirty="0">
                <a:sym typeface="+mn-ea"/>
              </a:rPr>
              <a:t>）的所有学生，结果显示年份和该年出生的学生人数</a:t>
            </a:r>
            <a:endParaRPr lang="en-US" altLang="zh-CN" dirty="0">
              <a:sym typeface="+mn-ea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课堂练习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2935" y="3357245"/>
            <a:ext cx="889063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查询每个学生通过（即：成绩大于等于</a:t>
            </a:r>
            <a:r>
              <a:rPr lang="en-US" altLang="zh-CN">
                <a:sym typeface="+mn-ea"/>
              </a:rPr>
              <a:t>60</a:t>
            </a:r>
            <a:r>
              <a:rPr lang="zh-CN" altLang="en-US">
                <a:sym typeface="+mn-ea"/>
              </a:rPr>
              <a:t>）的课程数量，结果显示学号和课程数量。</a:t>
            </a:r>
          </a:p>
          <a:p>
            <a:pPr algn="just" eaLnBrk="1" hangingPunct="1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>
                <a:sym typeface="+mn-ea"/>
              </a:rPr>
              <a:t>本题能用</a:t>
            </a:r>
            <a:r>
              <a:rPr lang="en-US" altLang="zh-CN">
                <a:sym typeface="+mn-ea"/>
              </a:rPr>
              <a:t>Having</a:t>
            </a:r>
            <a:r>
              <a:rPr lang="zh-CN" altLang="en-US">
                <a:sym typeface="+mn-ea"/>
              </a:rPr>
              <a:t>来筛选</a:t>
            </a:r>
            <a:r>
              <a:rPr lang="en-US" altLang="zh-CN">
                <a:sym typeface="+mn-ea"/>
              </a:rPr>
              <a:t> “</a:t>
            </a:r>
            <a:r>
              <a:rPr lang="zh-CN" altLang="en-US">
                <a:sym typeface="+mn-ea"/>
              </a:rPr>
              <a:t>成绩大于等于</a:t>
            </a:r>
            <a:r>
              <a:rPr lang="en-US" altLang="zh-CN">
                <a:sym typeface="+mn-ea"/>
              </a:rPr>
              <a:t>60”</a:t>
            </a:r>
            <a:r>
              <a:rPr lang="zh-CN" altLang="en-US">
                <a:sym typeface="+mn-ea"/>
              </a:rPr>
              <a:t>吗？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7170" y="1052195"/>
          <a:ext cx="8362950" cy="6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87170" y="1772285"/>
          <a:ext cx="5890895" cy="628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87170" y="2494915"/>
          <a:ext cx="7776845" cy="54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YyMzg4Y2Q5OGQxYzJlYjE1Yzc2MDY1YWZhZTJkM2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63*49"/>
  <p:tag name="TABLE_ENDDRAG_RECT" val="117*139*463*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3*284"/>
  <p:tag name="TABLE_ENDDRAG_RECT" val="0*139*633*2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3*284"/>
  <p:tag name="TABLE_ENDDRAG_RECT" val="0*139*633*2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dd479df-710f-4925-87d9-0411a3bf5feb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1eee58b-f02d-40c4-9653-504082697f4c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6134f53-189c-4b3b-8544-d843ed5d562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63*49"/>
  <p:tag name="TABLE_ENDDRAG_RECT" val="117*139*463*4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63*49"/>
  <p:tag name="TABLE_ENDDRAG_RECT" val="117*139*463*4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1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2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数据库系统概论">
  <a:themeElements>
    <a:clrScheme name="3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3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1666</Words>
  <Application>Microsoft Office PowerPoint</Application>
  <PresentationFormat>宽屏</PresentationFormat>
  <Paragraphs>502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quote-cjk-patch</vt:lpstr>
      <vt:lpstr>Times-Roman</vt:lpstr>
      <vt:lpstr>黑体</vt:lpstr>
      <vt:lpstr>Arial</vt:lpstr>
      <vt:lpstr>Calibri</vt:lpstr>
      <vt:lpstr>Times New Roman</vt:lpstr>
      <vt:lpstr>Wingdings</vt:lpstr>
      <vt:lpstr>数据库系统概论</vt:lpstr>
      <vt:lpstr>1_数据库系统概论</vt:lpstr>
      <vt:lpstr>2_数据库系统概论</vt:lpstr>
      <vt:lpstr>3_数据库系统概论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讨论. 关于Group By</vt:lpstr>
      <vt:lpstr>Group By</vt:lpstr>
      <vt:lpstr>何为“分组效果相同”</vt:lpstr>
      <vt:lpstr>有同学问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jcchen@ruc.edu.cn</cp:lastModifiedBy>
  <cp:revision>250</cp:revision>
  <dcterms:created xsi:type="dcterms:W3CDTF">2014-10-22T07:43:00Z</dcterms:created>
  <dcterms:modified xsi:type="dcterms:W3CDTF">2026-09-19T11:40:41Z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EB4C9251F54248D493284623432BCD92_12</vt:lpwstr>
  </property>
</Properties>
</file>